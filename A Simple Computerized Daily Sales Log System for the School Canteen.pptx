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Horizon" panose="02000500000000000000" pitchFamily="2" charset="0"/>
      <p:regular r:id="rId10"/>
    </p:embeddedFont>
    <p:embeddedFont>
      <p:font typeface="Inter" panose="020B0502030000000004" pitchFamily="34" charset="0"/>
      <p:regular r:id="rId11"/>
    </p:embeddedFont>
    <p:embeddedFont>
      <p:font typeface="Inter Bold" panose="020B0802030000000004" pitchFamily="3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font" Target="fonts/font3.fntdata"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2.fntdata"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font" Target="fonts/font1.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jpeg" /><Relationship Id="rId1" Type="http://schemas.openxmlformats.org/officeDocument/2006/relationships/slideLayout" Target="../slideLayouts/slideLayout7.xml" /><Relationship Id="rId4" Type="http://schemas.openxmlformats.org/officeDocument/2006/relationships/image" Target="../media/image4.png" /></Relationships>
</file>

<file path=ppt/slides/_rels/slide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2.jpeg" /><Relationship Id="rId1" Type="http://schemas.openxmlformats.org/officeDocument/2006/relationships/slideLayout" Target="../slideLayouts/slideLayout7.xml" /><Relationship Id="rId4" Type="http://schemas.openxmlformats.org/officeDocument/2006/relationships/image" Target="../media/image6.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sp>
      <p:grpSp>
        <p:nvGrpSpPr>
          <p:cNvPr id="3" name="Group 3"/>
          <p:cNvGrpSpPr/>
          <p:nvPr/>
        </p:nvGrpSpPr>
        <p:grpSpPr>
          <a:xfrm>
            <a:off x="-235210" y="-207032"/>
            <a:ext cx="18758420" cy="10701065"/>
            <a:chOff x="0" y="0"/>
            <a:chExt cx="4940489" cy="2818387"/>
          </a:xfrm>
        </p:grpSpPr>
        <p:sp>
          <p:nvSpPr>
            <p:cNvPr id="4" name="Freeform 4"/>
            <p:cNvSpPr/>
            <p:nvPr/>
          </p:nvSpPr>
          <p:spPr>
            <a:xfrm>
              <a:off x="0" y="0"/>
              <a:ext cx="4940489" cy="2818387"/>
            </a:xfrm>
            <a:custGeom>
              <a:avLst/>
              <a:gdLst/>
              <a:ahLst/>
              <a:cxnLst/>
              <a:rect l="l" t="t" r="r" b="b"/>
              <a:pathLst>
                <a:path w="4940489" h="2818387">
                  <a:moveTo>
                    <a:pt x="0" y="0"/>
                  </a:moveTo>
                  <a:lnTo>
                    <a:pt x="4940489" y="0"/>
                  </a:lnTo>
                  <a:lnTo>
                    <a:pt x="4940489" y="2818387"/>
                  </a:lnTo>
                  <a:lnTo>
                    <a:pt x="0" y="2818387"/>
                  </a:lnTo>
                  <a:close/>
                </a:path>
              </a:pathLst>
            </a:custGeom>
            <a:gradFill rotWithShape="1">
              <a:gsLst>
                <a:gs pos="0">
                  <a:srgbClr val="0D2650">
                    <a:alpha val="95000"/>
                  </a:srgbClr>
                </a:gs>
                <a:gs pos="100000">
                  <a:srgbClr val="0C1566">
                    <a:alpha val="95000"/>
                  </a:srgbClr>
                </a:gs>
              </a:gsLst>
              <a:lin ang="0"/>
            </a:gradFill>
          </p:spPr>
        </p:sp>
        <p:sp>
          <p:nvSpPr>
            <p:cNvPr id="5" name="TextBox 5"/>
            <p:cNvSpPr txBox="1"/>
            <p:nvPr/>
          </p:nvSpPr>
          <p:spPr>
            <a:xfrm>
              <a:off x="0" y="-57150"/>
              <a:ext cx="4940489" cy="2875537"/>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1262049" y="3702490"/>
            <a:ext cx="15763902" cy="2255080"/>
          </a:xfrm>
          <a:prstGeom prst="rect">
            <a:avLst/>
          </a:prstGeom>
        </p:spPr>
        <p:txBody>
          <a:bodyPr lIns="0" tIns="0" rIns="0" bIns="0" rtlCol="0" anchor="t">
            <a:spAutoFit/>
          </a:bodyPr>
          <a:lstStyle/>
          <a:p>
            <a:pPr algn="ctr">
              <a:lnSpc>
                <a:spcPts val="5904"/>
              </a:lnSpc>
            </a:pPr>
            <a:r>
              <a:rPr lang="en-US" sz="4217">
                <a:solidFill>
                  <a:srgbClr val="FFFFFF"/>
                </a:solidFill>
                <a:latin typeface="Horizon"/>
                <a:ea typeface="Horizon"/>
                <a:cs typeface="Horizon"/>
                <a:sym typeface="Horizon"/>
              </a:rPr>
              <a:t>A SIMPLE COMPUTERIZED DAILY SALES LOG SYSTEM FOR THE SCHOOL CANTEEN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69329" y="-362238"/>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gradFill rotWithShape="1">
              <a:gsLst>
                <a:gs pos="0">
                  <a:srgbClr val="FFFFFF">
                    <a:alpha val="92000"/>
                  </a:srgbClr>
                </a:gs>
                <a:gs pos="100000">
                  <a:srgbClr val="F6F6F6">
                    <a:alpha val="92000"/>
                  </a:srgbClr>
                </a:gs>
              </a:gsLst>
              <a:lin ang="0"/>
            </a:gradFill>
          </p:spPr>
          <p:txBody>
            <a:bodyPr/>
            <a:lstStyle/>
            <a:p>
              <a:endParaRPr lang="en-PH" dirty="0"/>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1679690" y="1130634"/>
            <a:ext cx="2390061" cy="400944"/>
          </a:xfrm>
          <a:prstGeom prst="rect">
            <a:avLst/>
          </a:prstGeom>
        </p:spPr>
        <p:txBody>
          <a:bodyPr lIns="0" tIns="0" rIns="0" bIns="0" rtlCol="0" anchor="t">
            <a:spAutoFit/>
          </a:bodyPr>
          <a:lstStyle/>
          <a:p>
            <a:pPr algn="ctr">
              <a:lnSpc>
                <a:spcPts val="3431"/>
              </a:lnSpc>
              <a:spcBef>
                <a:spcPct val="0"/>
              </a:spcBef>
            </a:pPr>
            <a:r>
              <a:rPr lang="en-US" sz="2451" b="1" dirty="0">
                <a:solidFill>
                  <a:srgbClr val="000000"/>
                </a:solidFill>
                <a:latin typeface="Inter Bold"/>
                <a:ea typeface="Inter Bold"/>
                <a:cs typeface="Inter Bold"/>
                <a:sym typeface="Inter Bold"/>
              </a:rPr>
              <a:t>1.1 Introduction</a:t>
            </a:r>
          </a:p>
        </p:txBody>
      </p:sp>
      <p:sp>
        <p:nvSpPr>
          <p:cNvPr id="7" name="TextBox 7"/>
          <p:cNvSpPr txBox="1"/>
          <p:nvPr/>
        </p:nvSpPr>
        <p:spPr>
          <a:xfrm>
            <a:off x="1679690" y="1976789"/>
            <a:ext cx="15046592" cy="7281511"/>
          </a:xfrm>
          <a:prstGeom prst="rect">
            <a:avLst/>
          </a:prstGeom>
        </p:spPr>
        <p:txBody>
          <a:bodyPr lIns="0" tIns="0" rIns="0" bIns="0" rtlCol="0" anchor="t">
            <a:spAutoFit/>
          </a:bodyPr>
          <a:lstStyle/>
          <a:p>
            <a:pPr algn="just">
              <a:lnSpc>
                <a:spcPts val="3431"/>
              </a:lnSpc>
            </a:pPr>
            <a:r>
              <a:rPr lang="en-US" sz="2451">
                <a:solidFill>
                  <a:srgbClr val="000000"/>
                </a:solidFill>
                <a:latin typeface="Inter"/>
                <a:ea typeface="Inter"/>
                <a:cs typeface="Inter"/>
                <a:sym typeface="Inter"/>
              </a:rPr>
              <a:t>      The school canteen is an essential part of the school community, it provides meals and</a:t>
            </a:r>
          </a:p>
          <a:p>
            <a:pPr algn="just">
              <a:lnSpc>
                <a:spcPts val="3431"/>
              </a:lnSpc>
            </a:pPr>
            <a:r>
              <a:rPr lang="en-US" sz="2451">
                <a:solidFill>
                  <a:srgbClr val="000000"/>
                </a:solidFill>
                <a:latin typeface="Inter"/>
                <a:ea typeface="Inter"/>
                <a:cs typeface="Inter"/>
                <a:sym typeface="Inter"/>
              </a:rPr>
              <a:t>snacks to students and staff throughout each day. However, most canteens still rely on using</a:t>
            </a:r>
          </a:p>
          <a:p>
            <a:pPr algn="just">
              <a:lnSpc>
                <a:spcPts val="3431"/>
              </a:lnSpc>
            </a:pPr>
            <a:r>
              <a:rPr lang="en-US" sz="2451">
                <a:solidFill>
                  <a:srgbClr val="000000"/>
                </a:solidFill>
                <a:latin typeface="Inter"/>
                <a:ea typeface="Inter"/>
                <a:cs typeface="Inter"/>
                <a:sym typeface="Inter"/>
              </a:rPr>
              <a:t>manual methods such as notebooks or paper to record daily sales. This often results in</a:t>
            </a:r>
          </a:p>
          <a:p>
            <a:pPr algn="just">
              <a:lnSpc>
                <a:spcPts val="3431"/>
              </a:lnSpc>
            </a:pPr>
            <a:r>
              <a:rPr lang="en-US" sz="2451">
                <a:solidFill>
                  <a:srgbClr val="000000"/>
                </a:solidFill>
                <a:latin typeface="Inter"/>
                <a:ea typeface="Inter"/>
                <a:cs typeface="Inter"/>
                <a:sym typeface="Inter"/>
              </a:rPr>
              <a:t>inaccurate records, miscalculation, and disordered data, making it difficult to monitor daily</a:t>
            </a:r>
          </a:p>
          <a:p>
            <a:pPr algn="just">
              <a:lnSpc>
                <a:spcPts val="3431"/>
              </a:lnSpc>
            </a:pPr>
            <a:r>
              <a:rPr lang="en-US" sz="2451">
                <a:solidFill>
                  <a:srgbClr val="000000"/>
                </a:solidFill>
                <a:latin typeface="Inter"/>
                <a:ea typeface="Inter"/>
                <a:cs typeface="Inter"/>
                <a:sym typeface="Inter"/>
              </a:rPr>
              <a:t>income and financial performance. These problems create inefficiency and make monitoring</a:t>
            </a:r>
          </a:p>
          <a:p>
            <a:pPr algn="just">
              <a:lnSpc>
                <a:spcPts val="3431"/>
              </a:lnSpc>
            </a:pPr>
            <a:r>
              <a:rPr lang="en-US" sz="2451">
                <a:solidFill>
                  <a:srgbClr val="000000"/>
                </a:solidFill>
                <a:latin typeface="Inter"/>
                <a:ea typeface="Inter"/>
                <a:cs typeface="Inter"/>
                <a:sym typeface="Inter"/>
              </a:rPr>
              <a:t>sales more time consuming for canteen staff.</a:t>
            </a:r>
          </a:p>
          <a:p>
            <a:pPr algn="just">
              <a:lnSpc>
                <a:spcPts val="3431"/>
              </a:lnSpc>
            </a:pPr>
            <a:r>
              <a:rPr lang="en-US" sz="2451">
                <a:solidFill>
                  <a:srgbClr val="000000"/>
                </a:solidFill>
                <a:latin typeface="Inter"/>
                <a:ea typeface="Inter"/>
                <a:cs typeface="Inter"/>
                <a:sym typeface="Inter"/>
              </a:rPr>
              <a:t>      This situation led to the development of this study, which aims to address the problems</a:t>
            </a:r>
          </a:p>
          <a:p>
            <a:pPr algn="just">
              <a:lnSpc>
                <a:spcPts val="3431"/>
              </a:lnSpc>
            </a:pPr>
            <a:r>
              <a:rPr lang="en-US" sz="2451">
                <a:solidFill>
                  <a:srgbClr val="000000"/>
                </a:solidFill>
                <a:latin typeface="Inter"/>
                <a:ea typeface="Inter"/>
                <a:cs typeface="Inter"/>
                <a:sym typeface="Inter"/>
              </a:rPr>
              <a:t>of manual sales recording and reporting. The study focuses more on making the sales process</a:t>
            </a:r>
          </a:p>
          <a:p>
            <a:pPr algn="just">
              <a:lnSpc>
                <a:spcPts val="3431"/>
              </a:lnSpc>
              <a:spcBef>
                <a:spcPct val="0"/>
              </a:spcBef>
            </a:pPr>
            <a:r>
              <a:rPr lang="en-US" sz="2451">
                <a:solidFill>
                  <a:srgbClr val="000000"/>
                </a:solidFill>
                <a:latin typeface="Inter"/>
                <a:ea typeface="Inter"/>
                <a:cs typeface="Inter"/>
                <a:sym typeface="Inter"/>
              </a:rPr>
              <a:t>easier and more accurate by replacing the manual recording of sales. It’s an important topic for</a:t>
            </a:r>
          </a:p>
          <a:p>
            <a:pPr algn="just">
              <a:lnSpc>
                <a:spcPts val="3431"/>
              </a:lnSpc>
              <a:spcBef>
                <a:spcPct val="0"/>
              </a:spcBef>
            </a:pPr>
            <a:r>
              <a:rPr lang="en-US" sz="2451">
                <a:solidFill>
                  <a:srgbClr val="000000"/>
                </a:solidFill>
                <a:latin typeface="Inter"/>
                <a:ea typeface="Inter"/>
                <a:cs typeface="Inter"/>
                <a:sym typeface="Inter"/>
              </a:rPr>
              <a:t>the school community because it helps modernize canteen operations. Through efficient and</a:t>
            </a:r>
          </a:p>
          <a:p>
            <a:pPr algn="just">
              <a:lnSpc>
                <a:spcPts val="3431"/>
              </a:lnSpc>
              <a:spcBef>
                <a:spcPct val="0"/>
              </a:spcBef>
            </a:pPr>
            <a:r>
              <a:rPr lang="en-US" sz="2451">
                <a:solidFill>
                  <a:srgbClr val="000000"/>
                </a:solidFill>
                <a:latin typeface="Inter"/>
                <a:ea typeface="Inter"/>
                <a:cs typeface="Inter"/>
                <a:sym typeface="Inter"/>
              </a:rPr>
              <a:t>accurate sale monitoring it ensures transparency, accountability, and better decision making</a:t>
            </a:r>
          </a:p>
          <a:p>
            <a:pPr algn="just">
              <a:lnSpc>
                <a:spcPts val="3431"/>
              </a:lnSpc>
              <a:spcBef>
                <a:spcPct val="0"/>
              </a:spcBef>
            </a:pPr>
            <a:r>
              <a:rPr lang="en-US" sz="2451">
                <a:solidFill>
                  <a:srgbClr val="000000"/>
                </a:solidFill>
                <a:latin typeface="Inter"/>
                <a:ea typeface="Inter"/>
                <a:cs typeface="Inter"/>
                <a:sym typeface="Inter"/>
              </a:rPr>
              <a:t>for school administrator and canteen staff.</a:t>
            </a:r>
          </a:p>
          <a:p>
            <a:pPr algn="just">
              <a:lnSpc>
                <a:spcPts val="3431"/>
              </a:lnSpc>
              <a:spcBef>
                <a:spcPct val="0"/>
              </a:spcBef>
            </a:pPr>
            <a:r>
              <a:rPr lang="en-US" sz="2451">
                <a:solidFill>
                  <a:srgbClr val="000000"/>
                </a:solidFill>
                <a:latin typeface="Inter"/>
                <a:ea typeface="Inter"/>
                <a:cs typeface="Inter"/>
                <a:sym typeface="Inter"/>
              </a:rPr>
              <a:t>      The main objective of this research is to develop a Simple Computerized Daily Sales</a:t>
            </a:r>
          </a:p>
          <a:p>
            <a:pPr algn="just">
              <a:lnSpc>
                <a:spcPts val="3431"/>
              </a:lnSpc>
              <a:spcBef>
                <a:spcPct val="0"/>
              </a:spcBef>
            </a:pPr>
            <a:r>
              <a:rPr lang="en-US" sz="2451">
                <a:solidFill>
                  <a:srgbClr val="000000"/>
                </a:solidFill>
                <a:latin typeface="Inter"/>
                <a:ea typeface="Inter"/>
                <a:cs typeface="Inter"/>
                <a:sym typeface="Inter"/>
              </a:rPr>
              <a:t>Log System for the school canteen that automatically records daily sales by asking the user to</a:t>
            </a:r>
          </a:p>
          <a:p>
            <a:pPr algn="just">
              <a:lnSpc>
                <a:spcPts val="3431"/>
              </a:lnSpc>
              <a:spcBef>
                <a:spcPct val="0"/>
              </a:spcBef>
            </a:pPr>
            <a:r>
              <a:rPr lang="en-US" sz="2451">
                <a:solidFill>
                  <a:srgbClr val="000000"/>
                </a:solidFill>
                <a:latin typeface="Inter"/>
                <a:ea typeface="Inter"/>
                <a:cs typeface="Inter"/>
                <a:sym typeface="Inter"/>
              </a:rPr>
              <a:t>input the product sold, quantity and the price per unit. This will help minimizes human errors,</a:t>
            </a:r>
          </a:p>
          <a:p>
            <a:pPr algn="just">
              <a:lnSpc>
                <a:spcPts val="3431"/>
              </a:lnSpc>
              <a:spcBef>
                <a:spcPct val="0"/>
              </a:spcBef>
            </a:pPr>
            <a:r>
              <a:rPr lang="en-US" sz="2451">
                <a:solidFill>
                  <a:srgbClr val="000000"/>
                </a:solidFill>
                <a:latin typeface="Inter"/>
                <a:ea typeface="Inter"/>
                <a:cs typeface="Inter"/>
                <a:sym typeface="Inter"/>
              </a:rPr>
              <a:t>and ensures accurate reports. Through this system, the canteen can achieve faster transactions,</a:t>
            </a:r>
          </a:p>
          <a:p>
            <a:pPr algn="just">
              <a:lnSpc>
                <a:spcPts val="3431"/>
              </a:lnSpc>
              <a:spcBef>
                <a:spcPct val="0"/>
              </a:spcBef>
            </a:pPr>
            <a:r>
              <a:rPr lang="en-US" sz="2451">
                <a:solidFill>
                  <a:srgbClr val="000000"/>
                </a:solidFill>
                <a:latin typeface="Inter"/>
                <a:ea typeface="Inter"/>
                <a:cs typeface="Inter"/>
                <a:sym typeface="Inter"/>
              </a:rPr>
              <a:t>organized data, and more efficient management of daily operations.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69329" y="-362238"/>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gradFill rotWithShape="1">
              <a:gsLst>
                <a:gs pos="0">
                  <a:srgbClr val="FFFFFF">
                    <a:alpha val="92000"/>
                  </a:srgbClr>
                </a:gs>
                <a:gs pos="100000">
                  <a:srgbClr val="F6F6F6">
                    <a:alpha val="92000"/>
                  </a:srgbClr>
                </a:gs>
              </a:gsLst>
              <a:lin ang="0"/>
            </a:gradFill>
          </p:spPr>
          <p:txBody>
            <a:bodyPr/>
            <a:lstStyle/>
            <a:p>
              <a:endParaRPr lang="en-PH" dirty="0"/>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1028700" y="1029989"/>
            <a:ext cx="4480203" cy="423511"/>
          </a:xfrm>
          <a:prstGeom prst="rect">
            <a:avLst/>
          </a:prstGeom>
        </p:spPr>
        <p:txBody>
          <a:bodyPr lIns="0" tIns="0" rIns="0" bIns="0" rtlCol="0" anchor="t">
            <a:spAutoFit/>
          </a:bodyPr>
          <a:lstStyle/>
          <a:p>
            <a:pPr algn="ctr">
              <a:lnSpc>
                <a:spcPts val="3431"/>
              </a:lnSpc>
              <a:spcBef>
                <a:spcPct val="0"/>
              </a:spcBef>
            </a:pPr>
            <a:r>
              <a:rPr lang="en-US" sz="2451" b="1">
                <a:solidFill>
                  <a:srgbClr val="000000"/>
                </a:solidFill>
                <a:latin typeface="Inter Bold"/>
                <a:ea typeface="Inter Bold"/>
                <a:cs typeface="Inter Bold"/>
                <a:sym typeface="Inter Bold"/>
              </a:rPr>
              <a:t>1.2  Statement of the Problem</a:t>
            </a:r>
          </a:p>
        </p:txBody>
      </p:sp>
      <p:sp>
        <p:nvSpPr>
          <p:cNvPr id="7" name="TextBox 7"/>
          <p:cNvSpPr txBox="1"/>
          <p:nvPr/>
        </p:nvSpPr>
        <p:spPr>
          <a:xfrm>
            <a:off x="1999298" y="1634475"/>
            <a:ext cx="2801302" cy="400944"/>
          </a:xfrm>
          <a:prstGeom prst="rect">
            <a:avLst/>
          </a:prstGeom>
        </p:spPr>
        <p:txBody>
          <a:bodyPr wrap="square" lIns="0" tIns="0" rIns="0" bIns="0" rtlCol="0" anchor="t">
            <a:spAutoFit/>
          </a:bodyPr>
          <a:lstStyle/>
          <a:p>
            <a:pPr algn="ctr">
              <a:lnSpc>
                <a:spcPts val="3431"/>
              </a:lnSpc>
              <a:spcBef>
                <a:spcPct val="0"/>
              </a:spcBef>
            </a:pPr>
            <a:r>
              <a:rPr lang="en-US" sz="2451" b="1" dirty="0">
                <a:solidFill>
                  <a:srgbClr val="000000"/>
                </a:solidFill>
                <a:latin typeface="Inter Bold"/>
                <a:ea typeface="Inter Bold"/>
                <a:cs typeface="Inter Bold"/>
                <a:sym typeface="Inter Bold"/>
              </a:rPr>
              <a:t>General Problem</a:t>
            </a:r>
          </a:p>
        </p:txBody>
      </p:sp>
      <p:sp>
        <p:nvSpPr>
          <p:cNvPr id="8" name="TextBox 8"/>
          <p:cNvSpPr txBox="1"/>
          <p:nvPr/>
        </p:nvSpPr>
        <p:spPr>
          <a:xfrm>
            <a:off x="1999298" y="2296111"/>
            <a:ext cx="15260002" cy="1709386"/>
          </a:xfrm>
          <a:prstGeom prst="rect">
            <a:avLst/>
          </a:prstGeom>
        </p:spPr>
        <p:txBody>
          <a:bodyPr lIns="0" tIns="0" rIns="0" bIns="0" rtlCol="0" anchor="t">
            <a:spAutoFit/>
          </a:bodyPr>
          <a:lstStyle/>
          <a:p>
            <a:pPr algn="just">
              <a:lnSpc>
                <a:spcPts val="3431"/>
              </a:lnSpc>
              <a:spcBef>
                <a:spcPct val="0"/>
              </a:spcBef>
            </a:pPr>
            <a:r>
              <a:rPr lang="en-US" sz="2451" dirty="0">
                <a:solidFill>
                  <a:srgbClr val="000000"/>
                </a:solidFill>
                <a:latin typeface="Inter"/>
                <a:ea typeface="Inter"/>
                <a:cs typeface="Inter"/>
                <a:sym typeface="Inter"/>
              </a:rPr>
              <a:t>      The main problem address by this study is the inefficiency of manual sales recording in the school canteen. Manual recording, computation and paper-based monitoring often cause errors, loss of data, and slow reporting. To solve these issues, a Simple Computerized Daily Sales Log System will be developed to help record and summarize daily sales automatically.</a:t>
            </a:r>
          </a:p>
        </p:txBody>
      </p:sp>
      <p:sp>
        <p:nvSpPr>
          <p:cNvPr id="9" name="TextBox 9"/>
          <p:cNvSpPr txBox="1"/>
          <p:nvPr/>
        </p:nvSpPr>
        <p:spPr>
          <a:xfrm>
            <a:off x="1999298" y="4396752"/>
            <a:ext cx="2801302" cy="400944"/>
          </a:xfrm>
          <a:prstGeom prst="rect">
            <a:avLst/>
          </a:prstGeom>
        </p:spPr>
        <p:txBody>
          <a:bodyPr wrap="square" lIns="0" tIns="0" rIns="0" bIns="0" rtlCol="0" anchor="t">
            <a:spAutoFit/>
          </a:bodyPr>
          <a:lstStyle/>
          <a:p>
            <a:pPr algn="ctr">
              <a:lnSpc>
                <a:spcPts val="3431"/>
              </a:lnSpc>
              <a:spcBef>
                <a:spcPct val="0"/>
              </a:spcBef>
            </a:pPr>
            <a:r>
              <a:rPr lang="en-US" sz="2451" b="1" dirty="0">
                <a:solidFill>
                  <a:srgbClr val="000000"/>
                </a:solidFill>
                <a:latin typeface="Inter Bold"/>
                <a:ea typeface="Inter Bold"/>
                <a:cs typeface="Inter Bold"/>
                <a:sym typeface="Inter Bold"/>
              </a:rPr>
              <a:t>Specific Problem</a:t>
            </a:r>
          </a:p>
        </p:txBody>
      </p:sp>
      <p:sp>
        <p:nvSpPr>
          <p:cNvPr id="10" name="TextBox 10"/>
          <p:cNvSpPr txBox="1"/>
          <p:nvPr/>
        </p:nvSpPr>
        <p:spPr>
          <a:xfrm>
            <a:off x="1999298" y="5002120"/>
            <a:ext cx="15260002" cy="1280761"/>
          </a:xfrm>
          <a:prstGeom prst="rect">
            <a:avLst/>
          </a:prstGeom>
        </p:spPr>
        <p:txBody>
          <a:bodyPr lIns="0" tIns="0" rIns="0" bIns="0" rtlCol="0" anchor="t">
            <a:spAutoFit/>
          </a:bodyPr>
          <a:lstStyle/>
          <a:p>
            <a:pPr algn="just">
              <a:lnSpc>
                <a:spcPts val="3431"/>
              </a:lnSpc>
              <a:spcBef>
                <a:spcPct val="0"/>
              </a:spcBef>
            </a:pPr>
            <a:r>
              <a:rPr lang="en-US" sz="2451">
                <a:solidFill>
                  <a:srgbClr val="000000"/>
                </a:solidFill>
                <a:latin typeface="Inter"/>
                <a:ea typeface="Inter"/>
                <a:cs typeface="Inter"/>
                <a:sym typeface="Inter"/>
              </a:rPr>
              <a:t>      Frequent errors in manual computation and recording Manual recording and computing daily total sales can lead to mistakes due to human error.These inaccuracies make it difficult to track actual income correctly at the end of each day.</a:t>
            </a:r>
          </a:p>
        </p:txBody>
      </p:sp>
      <p:sp>
        <p:nvSpPr>
          <p:cNvPr id="11" name="TextBox 11"/>
          <p:cNvSpPr txBox="1"/>
          <p:nvPr/>
        </p:nvSpPr>
        <p:spPr>
          <a:xfrm>
            <a:off x="1999298" y="6521006"/>
            <a:ext cx="15433647" cy="1280761"/>
          </a:xfrm>
          <a:prstGeom prst="rect">
            <a:avLst/>
          </a:prstGeom>
        </p:spPr>
        <p:txBody>
          <a:bodyPr lIns="0" tIns="0" rIns="0" bIns="0" rtlCol="0" anchor="t">
            <a:spAutoFit/>
          </a:bodyPr>
          <a:lstStyle/>
          <a:p>
            <a:pPr algn="just">
              <a:lnSpc>
                <a:spcPts val="3431"/>
              </a:lnSpc>
              <a:spcBef>
                <a:spcPct val="0"/>
              </a:spcBef>
            </a:pPr>
            <a:r>
              <a:rPr lang="en-US" sz="2451">
                <a:solidFill>
                  <a:srgbClr val="000000"/>
                </a:solidFill>
                <a:latin typeface="Inter"/>
                <a:ea typeface="Inter"/>
                <a:cs typeface="Inter"/>
                <a:sym typeface="Inter"/>
              </a:rPr>
              <a:t>       Lack of an organized and quick way to summarize daily sales. Canteen staff have to manually add up each transaction to determine daily totals, which is time-consuming. The absence of an automated summary feature slows down reporting andmakes data review less efficient.</a:t>
            </a:r>
          </a:p>
        </p:txBody>
      </p:sp>
      <p:sp>
        <p:nvSpPr>
          <p:cNvPr id="12" name="TextBox 12"/>
          <p:cNvSpPr txBox="1"/>
          <p:nvPr/>
        </p:nvSpPr>
        <p:spPr>
          <a:xfrm>
            <a:off x="1999298" y="8039892"/>
            <a:ext cx="15433647" cy="1280761"/>
          </a:xfrm>
          <a:prstGeom prst="rect">
            <a:avLst/>
          </a:prstGeom>
        </p:spPr>
        <p:txBody>
          <a:bodyPr lIns="0" tIns="0" rIns="0" bIns="0" rtlCol="0" anchor="t">
            <a:spAutoFit/>
          </a:bodyPr>
          <a:lstStyle/>
          <a:p>
            <a:pPr algn="just">
              <a:lnSpc>
                <a:spcPts val="3431"/>
              </a:lnSpc>
              <a:spcBef>
                <a:spcPct val="0"/>
              </a:spcBef>
            </a:pPr>
            <a:r>
              <a:rPr lang="en-US" sz="2451">
                <a:solidFill>
                  <a:srgbClr val="000000"/>
                </a:solidFill>
                <a:latin typeface="Inter"/>
                <a:ea typeface="Inter"/>
                <a:cs typeface="Inter"/>
                <a:sym typeface="Inter"/>
              </a:rPr>
              <a:t>      Difficulty in maintaining and organizing sales records. Sales data written on paper or notebooks are prone to loss and disorganization. The system addresses this issue by allowing transactions to be stored digitally during a session, enabling easier viewing and management of sales information.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69329" y="-362238"/>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gradFill rotWithShape="1">
              <a:gsLst>
                <a:gs pos="0">
                  <a:srgbClr val="FFFFFF">
                    <a:alpha val="92000"/>
                  </a:srgbClr>
                </a:gs>
                <a:gs pos="100000">
                  <a:srgbClr val="F6F6F6">
                    <a:alpha val="92000"/>
                  </a:srgbClr>
                </a:gs>
              </a:gsLst>
              <a:lin ang="0"/>
            </a:gradFill>
          </p:spPr>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1028700" y="971550"/>
            <a:ext cx="3695700" cy="400944"/>
          </a:xfrm>
          <a:prstGeom prst="rect">
            <a:avLst/>
          </a:prstGeom>
        </p:spPr>
        <p:txBody>
          <a:bodyPr wrap="square" lIns="0" tIns="0" rIns="0" bIns="0" rtlCol="0" anchor="t">
            <a:spAutoFit/>
          </a:bodyPr>
          <a:lstStyle/>
          <a:p>
            <a:pPr algn="ctr">
              <a:lnSpc>
                <a:spcPts val="3431"/>
              </a:lnSpc>
              <a:spcBef>
                <a:spcPct val="0"/>
              </a:spcBef>
            </a:pPr>
            <a:r>
              <a:rPr lang="en-US" sz="2451" b="1" dirty="0">
                <a:solidFill>
                  <a:srgbClr val="000000"/>
                </a:solidFill>
                <a:latin typeface="Inter Bold"/>
                <a:ea typeface="Inter Bold"/>
                <a:cs typeface="Inter Bold"/>
                <a:sym typeface="Inter Bold"/>
              </a:rPr>
              <a:t>1.3  General Objectives</a:t>
            </a:r>
          </a:p>
        </p:txBody>
      </p:sp>
      <p:sp>
        <p:nvSpPr>
          <p:cNvPr id="7" name="TextBox 7"/>
          <p:cNvSpPr txBox="1"/>
          <p:nvPr/>
        </p:nvSpPr>
        <p:spPr>
          <a:xfrm>
            <a:off x="1028700" y="1680513"/>
            <a:ext cx="16230600" cy="1280761"/>
          </a:xfrm>
          <a:prstGeom prst="rect">
            <a:avLst/>
          </a:prstGeom>
        </p:spPr>
        <p:txBody>
          <a:bodyPr lIns="0" tIns="0" rIns="0" bIns="0" rtlCol="0" anchor="t">
            <a:spAutoFit/>
          </a:bodyPr>
          <a:lstStyle/>
          <a:p>
            <a:pPr algn="just">
              <a:lnSpc>
                <a:spcPts val="3431"/>
              </a:lnSpc>
              <a:spcBef>
                <a:spcPct val="0"/>
              </a:spcBef>
            </a:pPr>
            <a:r>
              <a:rPr lang="en-US" sz="2451" dirty="0">
                <a:solidFill>
                  <a:srgbClr val="000000"/>
                </a:solidFill>
                <a:latin typeface="Inter"/>
                <a:ea typeface="Inter"/>
                <a:cs typeface="Inter"/>
                <a:sym typeface="Inter"/>
              </a:rPr>
              <a:t>      The general objective of this study is to develop a simple computerized daily sales log system using basic Python programming concepts to help the school canteen record, monitor, and compute daily sales efficiently, reducing errors caused by manual recording.</a:t>
            </a:r>
          </a:p>
        </p:txBody>
      </p:sp>
      <p:sp>
        <p:nvSpPr>
          <p:cNvPr id="8" name="TextBox 8"/>
          <p:cNvSpPr txBox="1"/>
          <p:nvPr/>
        </p:nvSpPr>
        <p:spPr>
          <a:xfrm>
            <a:off x="1028700" y="3247024"/>
            <a:ext cx="3549253" cy="423511"/>
          </a:xfrm>
          <a:prstGeom prst="rect">
            <a:avLst/>
          </a:prstGeom>
        </p:spPr>
        <p:txBody>
          <a:bodyPr lIns="0" tIns="0" rIns="0" bIns="0" rtlCol="0" anchor="t">
            <a:spAutoFit/>
          </a:bodyPr>
          <a:lstStyle/>
          <a:p>
            <a:pPr algn="ctr">
              <a:lnSpc>
                <a:spcPts val="3431"/>
              </a:lnSpc>
              <a:spcBef>
                <a:spcPct val="0"/>
              </a:spcBef>
            </a:pPr>
            <a:r>
              <a:rPr lang="en-US" sz="2451" b="1">
                <a:solidFill>
                  <a:srgbClr val="000000"/>
                </a:solidFill>
                <a:latin typeface="Inter Bold"/>
                <a:ea typeface="Inter Bold"/>
                <a:cs typeface="Inter Bold"/>
                <a:sym typeface="Inter Bold"/>
              </a:rPr>
              <a:t>1.4  Specific Objectives</a:t>
            </a:r>
          </a:p>
        </p:txBody>
      </p:sp>
      <p:sp>
        <p:nvSpPr>
          <p:cNvPr id="9" name="TextBox 9"/>
          <p:cNvSpPr txBox="1"/>
          <p:nvPr/>
        </p:nvSpPr>
        <p:spPr>
          <a:xfrm>
            <a:off x="1028700" y="3956285"/>
            <a:ext cx="16230600" cy="3852511"/>
          </a:xfrm>
          <a:prstGeom prst="rect">
            <a:avLst/>
          </a:prstGeom>
        </p:spPr>
        <p:txBody>
          <a:bodyPr lIns="0" tIns="0" rIns="0" bIns="0" rtlCol="0" anchor="t">
            <a:spAutoFit/>
          </a:bodyPr>
          <a:lstStyle/>
          <a:p>
            <a:pPr marL="529245" lvl="1" indent="-264623" algn="just">
              <a:lnSpc>
                <a:spcPts val="3431"/>
              </a:lnSpc>
              <a:buFont typeface="Arial"/>
              <a:buChar char="•"/>
            </a:pPr>
            <a:r>
              <a:rPr lang="en-US" sz="2451">
                <a:solidFill>
                  <a:srgbClr val="000000"/>
                </a:solidFill>
                <a:latin typeface="Inter"/>
                <a:ea typeface="Inter"/>
                <a:cs typeface="Inter"/>
                <a:sym typeface="Inter"/>
              </a:rPr>
              <a:t>Design and develop a program that allows the canteen staff to input, store, and manage sales transactions in a list format. </a:t>
            </a:r>
          </a:p>
          <a:p>
            <a:pPr marL="529245" lvl="1" indent="-264623" algn="just">
              <a:lnSpc>
                <a:spcPts val="3431"/>
              </a:lnSpc>
              <a:buFont typeface="Arial"/>
              <a:buChar char="•"/>
            </a:pPr>
            <a:r>
              <a:rPr lang="en-US" sz="2451">
                <a:solidFill>
                  <a:srgbClr val="000000"/>
                </a:solidFill>
                <a:latin typeface="Inter"/>
                <a:ea typeface="Inter"/>
                <a:cs typeface="Inter"/>
                <a:sym typeface="Inter"/>
              </a:rPr>
              <a:t>Automate the computation of total daily sales to minimize human error and save time in generating sales summaries.</a:t>
            </a:r>
          </a:p>
          <a:p>
            <a:pPr marL="529245" lvl="1" indent="-264623" algn="just">
              <a:lnSpc>
                <a:spcPts val="3431"/>
              </a:lnSpc>
              <a:buFont typeface="Arial"/>
              <a:buChar char="•"/>
            </a:pPr>
            <a:r>
              <a:rPr lang="en-US" sz="2451">
                <a:solidFill>
                  <a:srgbClr val="000000"/>
                </a:solidFill>
                <a:latin typeface="Inter"/>
                <a:ea typeface="Inter"/>
                <a:cs typeface="Inter"/>
                <a:sym typeface="Inter"/>
              </a:rPr>
              <a:t>Allow viewing and editing of sales records within a single session to ensure data accuracy and flexibility.</a:t>
            </a:r>
          </a:p>
          <a:p>
            <a:pPr marL="529245" lvl="1" indent="-264623" algn="just">
              <a:lnSpc>
                <a:spcPts val="3431"/>
              </a:lnSpc>
              <a:buFont typeface="Arial"/>
              <a:buChar char="•"/>
            </a:pPr>
            <a:r>
              <a:rPr lang="en-US" sz="2451">
                <a:solidFill>
                  <a:srgbClr val="000000"/>
                </a:solidFill>
                <a:latin typeface="Inter"/>
                <a:ea typeface="Inter"/>
                <a:cs typeface="Inter"/>
                <a:sym typeface="Inter"/>
              </a:rPr>
              <a:t>Demonstrate the application of basic programming concepts (such as lists, loops, and functions) in solving real-life problems related to business operations.</a:t>
            </a:r>
          </a:p>
          <a:p>
            <a:pPr marL="529245" lvl="1" indent="-264623" algn="just">
              <a:lnSpc>
                <a:spcPts val="3431"/>
              </a:lnSpc>
              <a:buFont typeface="Arial"/>
              <a:buChar char="•"/>
            </a:pPr>
            <a:r>
              <a:rPr lang="en-US" sz="2451">
                <a:solidFill>
                  <a:srgbClr val="000000"/>
                </a:solidFill>
                <a:latin typeface="Inter"/>
                <a:ea typeface="Inter"/>
                <a:cs typeface="Inter"/>
                <a:sym typeface="Inter"/>
              </a:rPr>
              <a:t>Evaluate the efficiency and usability of the system based on feedback from canteen staff and school administrators.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69329" y="-362238"/>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gradFill rotWithShape="1">
              <a:gsLst>
                <a:gs pos="0">
                  <a:srgbClr val="FFFFFF">
                    <a:alpha val="92000"/>
                  </a:srgbClr>
                </a:gs>
                <a:gs pos="100000">
                  <a:srgbClr val="F6F6F6">
                    <a:alpha val="92000"/>
                  </a:srgbClr>
                </a:gs>
              </a:gsLst>
              <a:lin ang="0"/>
            </a:gradFill>
          </p:spPr>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1028700" y="971550"/>
            <a:ext cx="3856077" cy="423511"/>
          </a:xfrm>
          <a:prstGeom prst="rect">
            <a:avLst/>
          </a:prstGeom>
        </p:spPr>
        <p:txBody>
          <a:bodyPr lIns="0" tIns="0" rIns="0" bIns="0" rtlCol="0" anchor="t">
            <a:spAutoFit/>
          </a:bodyPr>
          <a:lstStyle/>
          <a:p>
            <a:pPr algn="ctr">
              <a:lnSpc>
                <a:spcPts val="3431"/>
              </a:lnSpc>
              <a:spcBef>
                <a:spcPct val="0"/>
              </a:spcBef>
            </a:pPr>
            <a:r>
              <a:rPr lang="en-US" sz="2451" b="1">
                <a:solidFill>
                  <a:srgbClr val="000000"/>
                </a:solidFill>
                <a:latin typeface="Inter Bold"/>
                <a:ea typeface="Inter Bold"/>
                <a:cs typeface="Inter Bold"/>
                <a:sym typeface="Inter Bold"/>
              </a:rPr>
              <a:t>1.5  Scope  and Limitation</a:t>
            </a:r>
          </a:p>
        </p:txBody>
      </p:sp>
      <p:sp>
        <p:nvSpPr>
          <p:cNvPr id="7" name="TextBox 7"/>
          <p:cNvSpPr txBox="1"/>
          <p:nvPr/>
        </p:nvSpPr>
        <p:spPr>
          <a:xfrm>
            <a:off x="1028700" y="1588437"/>
            <a:ext cx="16637788" cy="4281136"/>
          </a:xfrm>
          <a:prstGeom prst="rect">
            <a:avLst/>
          </a:prstGeom>
        </p:spPr>
        <p:txBody>
          <a:bodyPr lIns="0" tIns="0" rIns="0" bIns="0" rtlCol="0" anchor="t">
            <a:spAutoFit/>
          </a:bodyPr>
          <a:lstStyle/>
          <a:p>
            <a:pPr marL="529245" lvl="1" indent="-264623" algn="just">
              <a:lnSpc>
                <a:spcPts val="3431"/>
              </a:lnSpc>
              <a:buFont typeface="Arial"/>
              <a:buChar char="•"/>
            </a:pPr>
            <a:r>
              <a:rPr lang="en-US" sz="2451">
                <a:solidFill>
                  <a:srgbClr val="000000"/>
                </a:solidFill>
                <a:latin typeface="Inter"/>
                <a:ea typeface="Inter"/>
                <a:cs typeface="Inter"/>
                <a:sym typeface="Inter"/>
              </a:rPr>
              <a:t>The system allows canteen staff to input daily transactions including the product name, quantity, and price.</a:t>
            </a:r>
          </a:p>
          <a:p>
            <a:pPr marL="529245" lvl="1" indent="-264623" algn="just">
              <a:lnSpc>
                <a:spcPts val="3431"/>
              </a:lnSpc>
              <a:buFont typeface="Arial"/>
              <a:buChar char="•"/>
            </a:pPr>
            <a:r>
              <a:rPr lang="en-US" sz="2451">
                <a:solidFill>
                  <a:srgbClr val="000000"/>
                </a:solidFill>
                <a:latin typeface="Inter"/>
                <a:ea typeface="Inter"/>
                <a:cs typeface="Inter"/>
                <a:sym typeface="Inter"/>
              </a:rPr>
              <a:t>The system automatically calculates the total sales based on the data entered.</a:t>
            </a:r>
          </a:p>
          <a:p>
            <a:pPr marL="529245" lvl="1" indent="-264623" algn="just">
              <a:lnSpc>
                <a:spcPts val="3431"/>
              </a:lnSpc>
              <a:buFont typeface="Arial"/>
              <a:buChar char="•"/>
            </a:pPr>
            <a:r>
              <a:rPr lang="en-US" sz="2451">
                <a:solidFill>
                  <a:srgbClr val="000000"/>
                </a:solidFill>
                <a:latin typeface="Inter"/>
                <a:ea typeface="Inter"/>
                <a:cs typeface="Inter"/>
                <a:sym typeface="Inter"/>
              </a:rPr>
              <a:t>Users can view all recorded sales in list form during the session.</a:t>
            </a:r>
          </a:p>
          <a:p>
            <a:pPr marL="529245" lvl="1" indent="-264623" algn="just">
              <a:lnSpc>
                <a:spcPts val="3431"/>
              </a:lnSpc>
              <a:buFont typeface="Arial"/>
              <a:buChar char="•"/>
            </a:pPr>
            <a:r>
              <a:rPr lang="en-US" sz="2451">
                <a:solidFill>
                  <a:srgbClr val="000000"/>
                </a:solidFill>
                <a:latin typeface="Inter"/>
                <a:ea typeface="Inter"/>
                <a:cs typeface="Inter"/>
                <a:sym typeface="Inter"/>
              </a:rPr>
              <a:t>The system provides basic options to edit sales records within the same session.</a:t>
            </a:r>
          </a:p>
          <a:p>
            <a:pPr marL="529245" lvl="1" indent="-264623" algn="just">
              <a:lnSpc>
                <a:spcPts val="3431"/>
              </a:lnSpc>
              <a:buFont typeface="Arial"/>
              <a:buChar char="•"/>
            </a:pPr>
            <a:r>
              <a:rPr lang="en-US" sz="2451">
                <a:solidFill>
                  <a:srgbClr val="000000"/>
                </a:solidFill>
                <a:latin typeface="Inter"/>
                <a:ea typeface="Inter"/>
                <a:cs typeface="Inter"/>
                <a:sym typeface="Inter"/>
              </a:rPr>
              <a:t>It can summarize daily transactions and show the total amount earned for the day.</a:t>
            </a:r>
          </a:p>
          <a:p>
            <a:pPr marL="529245" lvl="1" indent="-264623" algn="just">
              <a:lnSpc>
                <a:spcPts val="3431"/>
              </a:lnSpc>
              <a:buFont typeface="Arial"/>
              <a:buChar char="•"/>
            </a:pPr>
            <a:r>
              <a:rPr lang="en-US" sz="2451">
                <a:solidFill>
                  <a:srgbClr val="000000"/>
                </a:solidFill>
                <a:latin typeface="Inter"/>
                <a:ea typeface="Inter"/>
                <a:cs typeface="Inter"/>
                <a:sym typeface="Inter"/>
              </a:rPr>
              <a:t>The program operates in a simple text-based interface using Python, suitable for beginner-level implementation.</a:t>
            </a:r>
          </a:p>
          <a:p>
            <a:pPr marL="529245" lvl="1" indent="-264623" algn="just">
              <a:lnSpc>
                <a:spcPts val="3431"/>
              </a:lnSpc>
              <a:buFont typeface="Arial"/>
              <a:buChar char="•"/>
            </a:pPr>
            <a:r>
              <a:rPr lang="en-US" sz="2451">
                <a:solidFill>
                  <a:srgbClr val="000000"/>
                </a:solidFill>
                <a:latin typeface="Inter"/>
                <a:ea typeface="Inter"/>
                <a:cs typeface="Inter"/>
                <a:sym typeface="Inter"/>
              </a:rPr>
              <a:t>The system is designed for use by canteen staff at a time on a standalone computer.</a:t>
            </a:r>
          </a:p>
          <a:p>
            <a:pPr marL="529245" lvl="1" indent="-264623" algn="just">
              <a:lnSpc>
                <a:spcPts val="3431"/>
              </a:lnSpc>
              <a:buFont typeface="Arial"/>
              <a:buChar char="•"/>
            </a:pPr>
            <a:r>
              <a:rPr lang="en-US" sz="2451">
                <a:solidFill>
                  <a:srgbClr val="000000"/>
                </a:solidFill>
                <a:latin typeface="Inter"/>
                <a:ea typeface="Inter"/>
                <a:cs typeface="Inter"/>
                <a:sym typeface="Inter"/>
              </a:rPr>
              <a:t>The study emphasizes how fundamental programming concepts (lists, loops, and functions) can be applied to solve real-life problems like sales monitoring.</a:t>
            </a:r>
          </a:p>
        </p:txBody>
      </p:sp>
      <p:sp>
        <p:nvSpPr>
          <p:cNvPr id="8" name="TextBox 8"/>
          <p:cNvSpPr txBox="1"/>
          <p:nvPr/>
        </p:nvSpPr>
        <p:spPr>
          <a:xfrm>
            <a:off x="1435120" y="6060073"/>
            <a:ext cx="1521619" cy="423511"/>
          </a:xfrm>
          <a:prstGeom prst="rect">
            <a:avLst/>
          </a:prstGeom>
        </p:spPr>
        <p:txBody>
          <a:bodyPr lIns="0" tIns="0" rIns="0" bIns="0" rtlCol="0" anchor="t">
            <a:spAutoFit/>
          </a:bodyPr>
          <a:lstStyle/>
          <a:p>
            <a:pPr algn="ctr">
              <a:lnSpc>
                <a:spcPts val="3431"/>
              </a:lnSpc>
              <a:spcBef>
                <a:spcPct val="0"/>
              </a:spcBef>
            </a:pPr>
            <a:r>
              <a:rPr lang="en-US" sz="2451" b="1">
                <a:solidFill>
                  <a:srgbClr val="000000"/>
                </a:solidFill>
                <a:latin typeface="Inter Bold"/>
                <a:ea typeface="Inter Bold"/>
                <a:cs typeface="Inter Bold"/>
                <a:sym typeface="Inter Bold"/>
              </a:rPr>
              <a:t>Limitation</a:t>
            </a:r>
          </a:p>
        </p:txBody>
      </p:sp>
      <p:sp>
        <p:nvSpPr>
          <p:cNvPr id="9" name="TextBox 9"/>
          <p:cNvSpPr txBox="1"/>
          <p:nvPr/>
        </p:nvSpPr>
        <p:spPr>
          <a:xfrm>
            <a:off x="1028700" y="6674084"/>
            <a:ext cx="16637788" cy="2995261"/>
          </a:xfrm>
          <a:prstGeom prst="rect">
            <a:avLst/>
          </a:prstGeom>
        </p:spPr>
        <p:txBody>
          <a:bodyPr lIns="0" tIns="0" rIns="0" bIns="0" rtlCol="0" anchor="t">
            <a:spAutoFit/>
          </a:bodyPr>
          <a:lstStyle/>
          <a:p>
            <a:pPr algn="just">
              <a:lnSpc>
                <a:spcPts val="3431"/>
              </a:lnSpc>
              <a:spcBef>
                <a:spcPct val="0"/>
              </a:spcBef>
            </a:pPr>
            <a:r>
              <a:rPr lang="en-US" sz="2451">
                <a:solidFill>
                  <a:srgbClr val="000000"/>
                </a:solidFill>
                <a:latin typeface="Inter"/>
                <a:ea typeface="Inter"/>
                <a:cs typeface="Inter"/>
                <a:sym typeface="Inter"/>
              </a:rPr>
              <a:t>      The system does not include login features to start the process and is accessible only to the canteen staff for the purpose of recording, computing and monitoring daily sales. The system also does not support database integration since it only uses basic programming concepts such as list, loops and functions to temporarily store the data. This means the data will be lost once the program is closed. It also does not feature inventory management, barcode scanning, or automated report exporting. The functionality of this system focuses only on daily sales within one session. These limitations define the project as a basic educational tool rather than a full-scale commercial sales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69329" y="-362238"/>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gradFill rotWithShape="1">
              <a:gsLst>
                <a:gs pos="0">
                  <a:srgbClr val="FFFFFF">
                    <a:alpha val="92000"/>
                  </a:srgbClr>
                </a:gs>
                <a:gs pos="100000">
                  <a:srgbClr val="F6F6F6">
                    <a:alpha val="92000"/>
                  </a:srgbClr>
                </a:gs>
              </a:gsLst>
              <a:lin ang="0"/>
            </a:gradFill>
          </p:spPr>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1028700" y="971550"/>
            <a:ext cx="4152900" cy="400944"/>
          </a:xfrm>
          <a:prstGeom prst="rect">
            <a:avLst/>
          </a:prstGeom>
        </p:spPr>
        <p:txBody>
          <a:bodyPr wrap="square" lIns="0" tIns="0" rIns="0" bIns="0" rtlCol="0" anchor="t">
            <a:spAutoFit/>
          </a:bodyPr>
          <a:lstStyle/>
          <a:p>
            <a:pPr algn="ctr">
              <a:lnSpc>
                <a:spcPts val="3431"/>
              </a:lnSpc>
              <a:spcBef>
                <a:spcPct val="0"/>
              </a:spcBef>
            </a:pPr>
            <a:r>
              <a:rPr lang="en-US" sz="2451" b="1" dirty="0">
                <a:solidFill>
                  <a:srgbClr val="000000"/>
                </a:solidFill>
                <a:latin typeface="Inter Bold"/>
                <a:ea typeface="Inter Bold"/>
                <a:cs typeface="Inter Bold"/>
                <a:sym typeface="Inter Bold"/>
              </a:rPr>
              <a:t>1.6  System Requirements</a:t>
            </a:r>
          </a:p>
        </p:txBody>
      </p:sp>
      <p:sp>
        <p:nvSpPr>
          <p:cNvPr id="7" name="TextBox 7"/>
          <p:cNvSpPr txBox="1"/>
          <p:nvPr/>
        </p:nvSpPr>
        <p:spPr>
          <a:xfrm>
            <a:off x="1808733" y="2064010"/>
            <a:ext cx="6302345" cy="2995261"/>
          </a:xfrm>
          <a:prstGeom prst="rect">
            <a:avLst/>
          </a:prstGeom>
        </p:spPr>
        <p:txBody>
          <a:bodyPr lIns="0" tIns="0" rIns="0" bIns="0" rtlCol="0" anchor="t">
            <a:spAutoFit/>
          </a:bodyPr>
          <a:lstStyle/>
          <a:p>
            <a:pPr algn="just">
              <a:lnSpc>
                <a:spcPts val="3431"/>
              </a:lnSpc>
              <a:spcBef>
                <a:spcPct val="0"/>
              </a:spcBef>
            </a:pPr>
            <a:r>
              <a:rPr lang="en-US" sz="2451" b="1">
                <a:solidFill>
                  <a:srgbClr val="000000"/>
                </a:solidFill>
                <a:latin typeface="Inter Bold"/>
                <a:ea typeface="Inter Bold"/>
                <a:cs typeface="Inter Bold"/>
                <a:sym typeface="Inter Bold"/>
              </a:rPr>
              <a:t>A.  Software Requirements:</a:t>
            </a:r>
          </a:p>
          <a:p>
            <a:pPr algn="just">
              <a:lnSpc>
                <a:spcPts val="3431"/>
              </a:lnSpc>
              <a:spcBef>
                <a:spcPct val="0"/>
              </a:spcBef>
            </a:pPr>
            <a:endParaRPr lang="en-US" sz="2451" b="1">
              <a:solidFill>
                <a:srgbClr val="000000"/>
              </a:solidFill>
              <a:latin typeface="Inter Bold"/>
              <a:ea typeface="Inter Bold"/>
              <a:cs typeface="Inter Bold"/>
              <a:sym typeface="Inter Bold"/>
            </a:endParaRPr>
          </a:p>
          <a:p>
            <a:pPr marL="529245" lvl="1" indent="-264623" algn="just">
              <a:lnSpc>
                <a:spcPts val="3431"/>
              </a:lnSpc>
              <a:buFont typeface="Arial"/>
              <a:buChar char="•"/>
            </a:pPr>
            <a:r>
              <a:rPr lang="en-US" sz="2451">
                <a:solidFill>
                  <a:srgbClr val="000000"/>
                </a:solidFill>
                <a:latin typeface="Inter"/>
                <a:ea typeface="Inter"/>
                <a:cs typeface="Inter"/>
                <a:sym typeface="Inter"/>
              </a:rPr>
              <a:t>Programming language: Python</a:t>
            </a:r>
          </a:p>
          <a:p>
            <a:pPr marL="529245" lvl="1" indent="-264623" algn="just">
              <a:lnSpc>
                <a:spcPts val="3431"/>
              </a:lnSpc>
              <a:buFont typeface="Arial"/>
              <a:buChar char="•"/>
            </a:pPr>
            <a:r>
              <a:rPr lang="en-US" sz="2451">
                <a:solidFill>
                  <a:srgbClr val="000000"/>
                </a:solidFill>
                <a:latin typeface="Inter"/>
                <a:ea typeface="Inter"/>
                <a:cs typeface="Inter"/>
                <a:sym typeface="Inter"/>
              </a:rPr>
              <a:t>Operating System: Windows 10 or 11</a:t>
            </a:r>
          </a:p>
          <a:p>
            <a:pPr marL="529245" lvl="1" indent="-264623" algn="just">
              <a:lnSpc>
                <a:spcPts val="3431"/>
              </a:lnSpc>
              <a:buFont typeface="Arial"/>
              <a:buChar char="•"/>
            </a:pPr>
            <a:r>
              <a:rPr lang="en-US" sz="2451">
                <a:solidFill>
                  <a:srgbClr val="000000"/>
                </a:solidFill>
                <a:latin typeface="Inter"/>
                <a:ea typeface="Inter"/>
                <a:cs typeface="Inter"/>
                <a:sym typeface="Inter"/>
              </a:rPr>
              <a:t>Other Tools:</a:t>
            </a:r>
          </a:p>
          <a:p>
            <a:pPr algn="just">
              <a:lnSpc>
                <a:spcPts val="3431"/>
              </a:lnSpc>
              <a:spcBef>
                <a:spcPct val="0"/>
              </a:spcBef>
            </a:pPr>
            <a:r>
              <a:rPr lang="en-US" sz="2451">
                <a:solidFill>
                  <a:srgbClr val="000000"/>
                </a:solidFill>
                <a:latin typeface="Inter"/>
                <a:ea typeface="Inter"/>
                <a:cs typeface="Inter"/>
                <a:sym typeface="Inter"/>
              </a:rPr>
              <a:t>      Flowchart Maker (Draw.oi)</a:t>
            </a:r>
          </a:p>
          <a:p>
            <a:pPr algn="just">
              <a:lnSpc>
                <a:spcPts val="3431"/>
              </a:lnSpc>
              <a:spcBef>
                <a:spcPct val="0"/>
              </a:spcBef>
            </a:pPr>
            <a:r>
              <a:rPr lang="en-US" sz="2451">
                <a:solidFill>
                  <a:srgbClr val="000000"/>
                </a:solidFill>
                <a:latin typeface="Inter"/>
                <a:ea typeface="Inter"/>
                <a:cs typeface="Inter"/>
                <a:sym typeface="Inter"/>
              </a:rPr>
              <a:t>      Text editor (MS Word)</a:t>
            </a:r>
          </a:p>
        </p:txBody>
      </p:sp>
      <p:sp>
        <p:nvSpPr>
          <p:cNvPr id="8" name="TextBox 8"/>
          <p:cNvSpPr txBox="1"/>
          <p:nvPr/>
        </p:nvSpPr>
        <p:spPr>
          <a:xfrm>
            <a:off x="1808733" y="5726020"/>
            <a:ext cx="5294829" cy="2138011"/>
          </a:xfrm>
          <a:prstGeom prst="rect">
            <a:avLst/>
          </a:prstGeom>
        </p:spPr>
        <p:txBody>
          <a:bodyPr lIns="0" tIns="0" rIns="0" bIns="0" rtlCol="0" anchor="t">
            <a:spAutoFit/>
          </a:bodyPr>
          <a:lstStyle/>
          <a:p>
            <a:pPr algn="just">
              <a:lnSpc>
                <a:spcPts val="3431"/>
              </a:lnSpc>
              <a:spcBef>
                <a:spcPct val="0"/>
              </a:spcBef>
            </a:pPr>
            <a:r>
              <a:rPr lang="en-US" sz="2451" b="1">
                <a:solidFill>
                  <a:srgbClr val="000000"/>
                </a:solidFill>
                <a:latin typeface="Inter Bold"/>
                <a:ea typeface="Inter Bold"/>
                <a:cs typeface="Inter Bold"/>
                <a:sym typeface="Inter Bold"/>
              </a:rPr>
              <a:t>B.  Hardware Requirements:</a:t>
            </a:r>
          </a:p>
          <a:p>
            <a:pPr algn="just">
              <a:lnSpc>
                <a:spcPts val="3431"/>
              </a:lnSpc>
              <a:spcBef>
                <a:spcPct val="0"/>
              </a:spcBef>
            </a:pPr>
            <a:endParaRPr lang="en-US" sz="2451" b="1">
              <a:solidFill>
                <a:srgbClr val="000000"/>
              </a:solidFill>
              <a:latin typeface="Inter Bold"/>
              <a:ea typeface="Inter Bold"/>
              <a:cs typeface="Inter Bold"/>
              <a:sym typeface="Inter Bold"/>
            </a:endParaRPr>
          </a:p>
          <a:p>
            <a:pPr marL="529245" lvl="1" indent="-264623" algn="just">
              <a:lnSpc>
                <a:spcPts val="3431"/>
              </a:lnSpc>
              <a:buFont typeface="Arial"/>
              <a:buChar char="•"/>
            </a:pPr>
            <a:r>
              <a:rPr lang="en-US" sz="2451">
                <a:solidFill>
                  <a:srgbClr val="000000"/>
                </a:solidFill>
                <a:latin typeface="Inter"/>
                <a:ea typeface="Inter"/>
                <a:cs typeface="Inter"/>
                <a:sym typeface="Inter"/>
              </a:rPr>
              <a:t>Computer/Laptop</a:t>
            </a:r>
          </a:p>
          <a:p>
            <a:pPr marL="529245" lvl="1" indent="-264623" algn="just">
              <a:lnSpc>
                <a:spcPts val="3431"/>
              </a:lnSpc>
              <a:buFont typeface="Arial"/>
              <a:buChar char="•"/>
            </a:pPr>
            <a:r>
              <a:rPr lang="en-US" sz="2451">
                <a:solidFill>
                  <a:srgbClr val="000000"/>
                </a:solidFill>
                <a:latin typeface="Inter"/>
                <a:ea typeface="Inter"/>
                <a:cs typeface="Inter"/>
                <a:sym typeface="Inter"/>
              </a:rPr>
              <a:t>Input Devices: Keyboard, Mouse</a:t>
            </a:r>
          </a:p>
          <a:p>
            <a:pPr marL="529245" lvl="1" indent="-264623" algn="just">
              <a:lnSpc>
                <a:spcPts val="3431"/>
              </a:lnSpc>
              <a:buFont typeface="Arial"/>
              <a:buChar char="•"/>
            </a:pPr>
            <a:r>
              <a:rPr lang="en-US" sz="2451">
                <a:solidFill>
                  <a:srgbClr val="000000"/>
                </a:solidFill>
                <a:latin typeface="Inter"/>
                <a:ea typeface="Inter"/>
                <a:cs typeface="Inter"/>
                <a:sym typeface="Inter"/>
              </a:rPr>
              <a:t>Output Devices: Screen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69329" y="-362238"/>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gradFill rotWithShape="1">
              <a:gsLst>
                <a:gs pos="0">
                  <a:srgbClr val="FFFFFF">
                    <a:alpha val="92000"/>
                  </a:srgbClr>
                </a:gs>
                <a:gs pos="100000">
                  <a:srgbClr val="F6F6F6">
                    <a:alpha val="92000"/>
                  </a:srgbClr>
                </a:gs>
              </a:gsLst>
              <a:lin ang="0"/>
            </a:gradFill>
          </p:spPr>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Freeform 6"/>
          <p:cNvSpPr/>
          <p:nvPr/>
        </p:nvSpPr>
        <p:spPr>
          <a:xfrm>
            <a:off x="2810708" y="1028700"/>
            <a:ext cx="6333292" cy="8843262"/>
          </a:xfrm>
          <a:custGeom>
            <a:avLst/>
            <a:gdLst/>
            <a:ahLst/>
            <a:cxnLst/>
            <a:rect l="l" t="t" r="r" b="b"/>
            <a:pathLst>
              <a:path w="6333292" h="8843262">
                <a:moveTo>
                  <a:pt x="0" y="0"/>
                </a:moveTo>
                <a:lnTo>
                  <a:pt x="6333292" y="0"/>
                </a:lnTo>
                <a:lnTo>
                  <a:pt x="6333292" y="8843262"/>
                </a:lnTo>
                <a:lnTo>
                  <a:pt x="0" y="8843262"/>
                </a:lnTo>
                <a:lnTo>
                  <a:pt x="0" y="0"/>
                </a:lnTo>
                <a:close/>
              </a:path>
            </a:pathLst>
          </a:custGeom>
          <a:blipFill>
            <a:blip r:embed="rId3"/>
            <a:stretch>
              <a:fillRect l="-226" r="-226"/>
            </a:stretch>
          </a:blipFill>
        </p:spPr>
      </p:sp>
      <p:sp>
        <p:nvSpPr>
          <p:cNvPr id="7" name="Freeform 7"/>
          <p:cNvSpPr/>
          <p:nvPr/>
        </p:nvSpPr>
        <p:spPr>
          <a:xfrm>
            <a:off x="9420886" y="1028700"/>
            <a:ext cx="7100936" cy="8843262"/>
          </a:xfrm>
          <a:custGeom>
            <a:avLst/>
            <a:gdLst/>
            <a:ahLst/>
            <a:cxnLst/>
            <a:rect l="l" t="t" r="r" b="b"/>
            <a:pathLst>
              <a:path w="7100936" h="8843262">
                <a:moveTo>
                  <a:pt x="0" y="0"/>
                </a:moveTo>
                <a:lnTo>
                  <a:pt x="7100937" y="0"/>
                </a:lnTo>
                <a:lnTo>
                  <a:pt x="7100937" y="8843262"/>
                </a:lnTo>
                <a:lnTo>
                  <a:pt x="0" y="8843262"/>
                </a:lnTo>
                <a:lnTo>
                  <a:pt x="0" y="0"/>
                </a:lnTo>
                <a:close/>
              </a:path>
            </a:pathLst>
          </a:custGeom>
          <a:blipFill>
            <a:blip r:embed="rId4"/>
            <a:stretch>
              <a:fillRect t="-1262" b="-154"/>
            </a:stretch>
          </a:blipFill>
        </p:spPr>
      </p:sp>
      <p:sp>
        <p:nvSpPr>
          <p:cNvPr id="8" name="TextBox 8"/>
          <p:cNvSpPr txBox="1"/>
          <p:nvPr/>
        </p:nvSpPr>
        <p:spPr>
          <a:xfrm>
            <a:off x="4343400" y="605189"/>
            <a:ext cx="2189011" cy="400944"/>
          </a:xfrm>
          <a:prstGeom prst="rect">
            <a:avLst/>
          </a:prstGeom>
        </p:spPr>
        <p:txBody>
          <a:bodyPr wrap="square" lIns="0" tIns="0" rIns="0" bIns="0" rtlCol="0" anchor="t">
            <a:spAutoFit/>
          </a:bodyPr>
          <a:lstStyle/>
          <a:p>
            <a:pPr algn="ctr">
              <a:lnSpc>
                <a:spcPts val="3431"/>
              </a:lnSpc>
              <a:spcBef>
                <a:spcPct val="0"/>
              </a:spcBef>
            </a:pPr>
            <a:r>
              <a:rPr lang="en-US" sz="2451" b="1" dirty="0">
                <a:solidFill>
                  <a:srgbClr val="000000"/>
                </a:solidFill>
                <a:latin typeface="Inter Bold"/>
                <a:ea typeface="Inter Bold"/>
                <a:cs typeface="Inter Bold"/>
                <a:sym typeface="Inter Bold"/>
              </a:rPr>
              <a:t>A.  Flowchart</a:t>
            </a:r>
          </a:p>
        </p:txBody>
      </p:sp>
      <p:sp>
        <p:nvSpPr>
          <p:cNvPr id="9" name="TextBox 9"/>
          <p:cNvSpPr txBox="1"/>
          <p:nvPr/>
        </p:nvSpPr>
        <p:spPr>
          <a:xfrm>
            <a:off x="10875811" y="605189"/>
            <a:ext cx="2455765" cy="400944"/>
          </a:xfrm>
          <a:prstGeom prst="rect">
            <a:avLst/>
          </a:prstGeom>
        </p:spPr>
        <p:txBody>
          <a:bodyPr wrap="square" lIns="0" tIns="0" rIns="0" bIns="0" rtlCol="0" anchor="t">
            <a:spAutoFit/>
          </a:bodyPr>
          <a:lstStyle/>
          <a:p>
            <a:pPr algn="ctr">
              <a:lnSpc>
                <a:spcPts val="3431"/>
              </a:lnSpc>
              <a:spcBef>
                <a:spcPct val="0"/>
              </a:spcBef>
            </a:pPr>
            <a:r>
              <a:rPr lang="en-US" sz="2451" b="1" dirty="0">
                <a:solidFill>
                  <a:srgbClr val="000000"/>
                </a:solidFill>
                <a:latin typeface="Inter Bold"/>
                <a:ea typeface="Inter Bold"/>
                <a:cs typeface="Inter Bold"/>
                <a:sym typeface="Inter Bold"/>
              </a:rPr>
              <a:t>B. Code Snippet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556018"/>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gradFill rotWithShape="1">
              <a:gsLst>
                <a:gs pos="0">
                  <a:srgbClr val="FFFFFF">
                    <a:alpha val="92000"/>
                  </a:srgbClr>
                </a:gs>
                <a:gs pos="100000">
                  <a:srgbClr val="F6F6F6">
                    <a:alpha val="92000"/>
                  </a:srgbClr>
                </a:gs>
              </a:gsLst>
              <a:lin ang="0"/>
            </a:gradFill>
          </p:spPr>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Freeform 6"/>
          <p:cNvSpPr/>
          <p:nvPr/>
        </p:nvSpPr>
        <p:spPr>
          <a:xfrm>
            <a:off x="2955442" y="941136"/>
            <a:ext cx="12143695" cy="4555499"/>
          </a:xfrm>
          <a:custGeom>
            <a:avLst/>
            <a:gdLst/>
            <a:ahLst/>
            <a:cxnLst/>
            <a:rect l="l" t="t" r="r" b="b"/>
            <a:pathLst>
              <a:path w="12143695" h="4555499">
                <a:moveTo>
                  <a:pt x="0" y="0"/>
                </a:moveTo>
                <a:lnTo>
                  <a:pt x="12143695" y="0"/>
                </a:lnTo>
                <a:lnTo>
                  <a:pt x="12143695" y="4555499"/>
                </a:lnTo>
                <a:lnTo>
                  <a:pt x="0" y="4555499"/>
                </a:lnTo>
                <a:lnTo>
                  <a:pt x="0" y="0"/>
                </a:lnTo>
                <a:close/>
              </a:path>
            </a:pathLst>
          </a:custGeom>
          <a:blipFill>
            <a:blip r:embed="rId3"/>
            <a:stretch>
              <a:fillRect/>
            </a:stretch>
          </a:blipFill>
        </p:spPr>
      </p:sp>
      <p:sp>
        <p:nvSpPr>
          <p:cNvPr id="7" name="Freeform 7"/>
          <p:cNvSpPr/>
          <p:nvPr/>
        </p:nvSpPr>
        <p:spPr>
          <a:xfrm>
            <a:off x="2955442" y="5600278"/>
            <a:ext cx="12143695" cy="4352921"/>
          </a:xfrm>
          <a:custGeom>
            <a:avLst/>
            <a:gdLst/>
            <a:ahLst/>
            <a:cxnLst/>
            <a:rect l="l" t="t" r="r" b="b"/>
            <a:pathLst>
              <a:path w="12143695" h="4352921">
                <a:moveTo>
                  <a:pt x="0" y="0"/>
                </a:moveTo>
                <a:lnTo>
                  <a:pt x="12143695" y="0"/>
                </a:lnTo>
                <a:lnTo>
                  <a:pt x="12143695" y="4352921"/>
                </a:lnTo>
                <a:lnTo>
                  <a:pt x="0" y="4352921"/>
                </a:lnTo>
                <a:lnTo>
                  <a:pt x="0" y="0"/>
                </a:lnTo>
                <a:close/>
              </a:path>
            </a:pathLst>
          </a:custGeom>
          <a:blipFill>
            <a:blip r:embed="rId4"/>
            <a:stretch>
              <a:fillRect/>
            </a:stretch>
          </a:blipFill>
        </p:spPr>
      </p:sp>
      <p:sp>
        <p:nvSpPr>
          <p:cNvPr id="8" name="TextBox 8"/>
          <p:cNvSpPr txBox="1"/>
          <p:nvPr/>
        </p:nvSpPr>
        <p:spPr>
          <a:xfrm>
            <a:off x="1028700" y="971550"/>
            <a:ext cx="1790700" cy="400944"/>
          </a:xfrm>
          <a:prstGeom prst="rect">
            <a:avLst/>
          </a:prstGeom>
        </p:spPr>
        <p:txBody>
          <a:bodyPr wrap="square" lIns="0" tIns="0" rIns="0" bIns="0" rtlCol="0" anchor="t">
            <a:spAutoFit/>
          </a:bodyPr>
          <a:lstStyle/>
          <a:p>
            <a:pPr algn="ctr">
              <a:lnSpc>
                <a:spcPts val="3431"/>
              </a:lnSpc>
              <a:spcBef>
                <a:spcPct val="0"/>
              </a:spcBef>
            </a:pPr>
            <a:r>
              <a:rPr lang="en-US" sz="2451" b="1" dirty="0">
                <a:solidFill>
                  <a:srgbClr val="000000"/>
                </a:solidFill>
                <a:latin typeface="Inter Bold"/>
                <a:ea typeface="Inter Bold"/>
                <a:cs typeface="Inter Bold"/>
                <a:sym typeface="Inter Bold"/>
              </a:rPr>
              <a:t>C.  Testing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945</Words>
  <Application>Microsoft Office PowerPoint</Application>
  <PresentationFormat>Custom</PresentationFormat>
  <Paragraphs>61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SIMPLE COMPUTERIZED DAILY SALES LOG SYSTEM FOR THE SCHOOL CANTEEN</dc:title>
  <cp:lastModifiedBy>crystal ontolan</cp:lastModifiedBy>
  <cp:revision>4</cp:revision>
  <dcterms:created xsi:type="dcterms:W3CDTF">2006-08-16T00:00:00Z</dcterms:created>
  <dcterms:modified xsi:type="dcterms:W3CDTF">2025-11-26T11:34:39Z</dcterms:modified>
  <dc:identifier>DAG4zsgj4kQ</dc:identifier>
</cp:coreProperties>
</file>